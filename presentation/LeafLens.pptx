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476A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39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Yucca</c:v>
                  </c:pt>
                  <c:pt idx="1">
                    <c:v>Asp. Fern</c:v>
                  </c:pt>
                  <c:pt idx="2">
                    <c:v>Aloe Vera</c:v>
                  </c:pt>
                  <c:pt idx="3">
                    <c:v>Tradescantia</c:v>
                  </c:pt>
                  <c:pt idx="4">
                    <c:v>Anthurium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</c:v>
                </c:pt>
                <c:pt idx="1">
                  <c:v>169</c:v>
                </c:pt>
                <c:pt idx="2">
                  <c:v>251</c:v>
                </c:pt>
                <c:pt idx="3">
                  <c:v>341</c:v>
                </c:pt>
                <c:pt idx="4">
                  <c:v>454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839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D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D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Opener: Half of all houseplants bought every year die within twelve months. Not because owners don't care — because they don't know what they have. LeafLens is a one-photo fix for that. I'm Luigy Leonardo, this is my final project for the AI course. Ten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 of bought plants die in year one. Three failure modes: owners don't know the species, can't find good care info, can't translate vague advice into actions. Pet owners are an underserved subgroup — many common houseplants are toxic to cats and dogs, and most owners only learn this after a vet visit.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at once: classify the species, return a care card, flag pet safety. End-to-end response is under one second when warm. Care data is curated from the ASPCA toxicity database — the standard reference for US vets.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 demo slide. Open the browser, drop in three pre-staged photos. First: Pothos — high confidence, show the care card. Second: Snake plant — show the toxic-to-pets warning. Third: out-of-distribution photo — show the low-confidence banner. Keep narration tight, let the cards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Forty-seven classes, fifteen thousand images, mildly imbalanced — Yucca only has 66 images, Anthurium has 454. We handle that with class-weighted loss and augmentation. Splits are deterministic — same seed gives the same partition. Manifests live in CSV files so anyone can reproduce.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architectures. All pretrained on ImageNet. Heads replaced with a 47-way linear layer. Same training recipe across all three for a fair comparison: AdamW, class-weighted loss, three epochs frozen then unfreeze with two different learning rates, early stopping. Batch sizes differ — ViT needs smaller because of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ResNet-50 wins on top-1 and weighted F1 by a small margin. EfficientNet leads macro F1, which weights all classes equally — it's slightly better on the rarer species. ViT trails both CNN baselines. The probable reason: this dataset is in ViT's small-data weakness zone. Both course targets cleared. ResNet-50 goes into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matrix highlights — these are the residual hard cases. Visually similar plants share leaf shape, color, and growth habit. We mitigate by always returning top-3, and by surfacing a clear banner when confidence is low. The model is not allowed to silently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on Vercel, backend on Render free tier, Postgres on Render. Inference runs in the same Flask process — the model is loaded once at boot and reused. No separate GPU node, no queue, no microservices. Right scale for the academic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non-AI parts matter too — they're 70% of the rubric. Seventeen documentation sections, full test coverage of the API, CI on every push. Anyone can clone the repo and reproduce the numbers — same seed, same splits, same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Catalog expansion is the obvious next step. On-device inference is the right long-term move for privacy and latency. Disease overlay is a separate classifier on top. Care timeline is where this turns into a product, not just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if you've ever killed a plant by loving it too much, LeafLens is for you. Source is on GitHub, deployed URL below. Thank you — questions?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76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6858000" y="365760"/>
            <a:ext cx="1371600" cy="2011680"/>
          </a:xfrm>
          <a:prstGeom prst="ellipse">
            <a:avLst/>
          </a:prstGeom>
          <a:solidFill>
            <a:srgbClr val="7EA16F">
              <a:alpha val="30000"/>
            </a:srgbClr>
          </a:solidFill>
          <a:ln w="12700">
            <a:solidFill>
              <a:srgbClr val="7EA16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7086600" y="502920"/>
            <a:ext cx="1371600" cy="2011680"/>
          </a:xfrm>
          <a:prstGeom prst="ellipse">
            <a:avLst/>
          </a:prstGeom>
          <a:solidFill>
            <a:srgbClr val="7EA16F">
              <a:alpha val="26000"/>
            </a:srgbClr>
          </a:solidFill>
          <a:ln w="12700">
            <a:solidFill>
              <a:srgbClr val="7EA16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7315200" y="640080"/>
            <a:ext cx="1371600" cy="2011680"/>
          </a:xfrm>
          <a:prstGeom prst="ellipse">
            <a:avLst/>
          </a:prstGeom>
          <a:solidFill>
            <a:srgbClr val="7EA16F">
              <a:alpha val="22000"/>
            </a:srgbClr>
          </a:solidFill>
          <a:ln w="12700">
            <a:solidFill>
              <a:srgbClr val="7EA16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00000">
            <a:off x="7543800" y="777240"/>
            <a:ext cx="1371600" cy="2011680"/>
          </a:xfrm>
          <a:prstGeom prst="ellipse">
            <a:avLst/>
          </a:prstGeom>
          <a:solidFill>
            <a:srgbClr val="7EA16F">
              <a:alpha val="18000"/>
            </a:srgbClr>
          </a:solidFill>
          <a:ln w="12700">
            <a:solidFill>
              <a:srgbClr val="7EA16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100000">
            <a:off x="7772400" y="914400"/>
            <a:ext cx="1371600" cy="2011680"/>
          </a:xfrm>
          <a:prstGeom prst="ellipse">
            <a:avLst/>
          </a:prstGeom>
          <a:solidFill>
            <a:srgbClr val="7EA16F">
              <a:alpha val="14000"/>
            </a:srgbClr>
          </a:solidFill>
          <a:ln w="12700">
            <a:solidFill>
              <a:srgbClr val="7EA16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500000">
            <a:off x="548640" y="548640"/>
            <a:ext cx="292608" cy="384048"/>
          </a:xfrm>
          <a:prstGeom prst="ellipse">
            <a:avLst/>
          </a:prstGeom>
          <a:solidFill>
            <a:srgbClr val="A9C39E"/>
          </a:solidFill>
          <a:ln w="12700">
            <a:solidFill>
              <a:srgbClr val="A9C3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500000">
            <a:off x="612648" y="603504"/>
            <a:ext cx="164592" cy="256032"/>
          </a:xfrm>
          <a:prstGeom prst="ellipse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02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C3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any houseplant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A9C3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single photograph.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C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computer-vision web application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457200" cy="36576"/>
          </a:xfrm>
          <a:prstGeom prst="rect">
            <a:avLst/>
          </a:prstGeom>
          <a:solidFill>
            <a:srgbClr val="A9C39E"/>
          </a:solidFill>
          <a:ln w="12700">
            <a:solidFill>
              <a:srgbClr val="A9C3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77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Luigy Leonardo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9C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(BEINSOF52)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9C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Surcolombiana · May 2026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9C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Juan Antonio Castro Silva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457200" y="320040"/>
            <a:ext cx="292608" cy="384048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521208" y="374904"/>
            <a:ext cx="164592" cy="256032"/>
          </a:xfrm>
          <a:prstGeom prst="ellipse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108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48640" cy="36576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3657600" cy="237744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50%+</a:t>
            </a:r>
            <a:endParaRPr lang="en-US" sz="110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C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houseplants die within their first year at home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182880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828800"/>
            <a:ext cx="73152" cy="73152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883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2176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3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came without a label or carries a generic store tag.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26060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6280" y="2606040"/>
            <a:ext cx="73152" cy="73152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660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2953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3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references are dense, fragmented, and often contradict.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338328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3383280"/>
            <a:ext cx="73152" cy="73152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438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3730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3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“Bright indirect light” doesn’t translate into where to put the pot.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 owners discover plant toxicity the hard way.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LeafLens · USCO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457200" y="320040"/>
            <a:ext cx="292608" cy="384048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521208" y="374904"/>
            <a:ext cx="164592" cy="256032"/>
          </a:xfrm>
          <a:prstGeom prst="ellipse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108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deliverables, one photo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LeafLens does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48640" cy="36576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2880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A1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457200" cy="27432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46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species with confidence + two alternatives when uncertain.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82880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A1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2044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card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520440" y="3063240"/>
            <a:ext cx="457200" cy="27432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246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Watering, light, temperature, humidity, fertilizer schedule.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182880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A1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0936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 safety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309360" y="3063240"/>
            <a:ext cx="457200" cy="27432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246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/ mild / safe for cats and dogs, sourced from the ASPCA database.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434840"/>
            <a:ext cx="8183880" cy="41148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34840"/>
            <a:ext cx="8183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end-to-end latency on the live deployment.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LeafLens · USCO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457200" y="320040"/>
            <a:ext cx="292608" cy="384048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521208" y="374904"/>
            <a:ext cx="164592" cy="256032"/>
          </a:xfrm>
          <a:prstGeom prst="ellipse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108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48640" cy="36576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28800"/>
            <a:ext cx="2697480" cy="1554480"/>
          </a:xfrm>
          <a:prstGeom prst="rect">
            <a:avLst/>
          </a:prstGeom>
          <a:solidFill>
            <a:srgbClr val="A9C39E"/>
          </a:solidFill>
          <a:ln w="6350">
            <a:solidFill>
              <a:srgbClr val="7EA1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697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29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A1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Pothos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common, high confidence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care card.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828800"/>
            <a:ext cx="2697480" cy="1554480"/>
          </a:xfrm>
          <a:prstGeom prst="rect">
            <a:avLst/>
          </a:prstGeom>
          <a:solidFill>
            <a:srgbClr val="A9C39E"/>
          </a:solidFill>
          <a:ln w="6350">
            <a:solidFill>
              <a:srgbClr val="7EA1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82880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3291840" y="3383280"/>
            <a:ext cx="2697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429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A1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Snake plant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47472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Toxic-to-pets warning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safety badge.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828800"/>
            <a:ext cx="2697480" cy="1554480"/>
          </a:xfrm>
          <a:prstGeom prst="rect">
            <a:avLst/>
          </a:prstGeom>
          <a:solidFill>
            <a:srgbClr val="A9C39E"/>
          </a:solidFill>
          <a:ln w="6350">
            <a:solidFill>
              <a:srgbClr val="7EA1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82880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4800" dirty="0"/>
          </a:p>
        </p:txBody>
      </p:sp>
      <p:sp>
        <p:nvSpPr>
          <p:cNvPr id="25" name="Shape 23"/>
          <p:cNvSpPr/>
          <p:nvPr/>
        </p:nvSpPr>
        <p:spPr>
          <a:xfrm>
            <a:off x="6080760" y="3383280"/>
            <a:ext cx="2697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429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A1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Out-of-distribution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26364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explicit banner.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572000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Switch to the browser. Real photos, real predictions.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LeafLens · USCO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457200" y="320040"/>
            <a:ext cx="292608" cy="384048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521208" y="374904"/>
            <a:ext cx="164592" cy="256032"/>
          </a:xfrm>
          <a:prstGeom prst="ellipse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108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House Plant Species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48640" cy="36576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8308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476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classes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9476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14,774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29184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images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78308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9476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70/15/15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08076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train/val/test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383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size distribution (5 samples of 47)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02920" y="3657600"/>
          <a:ext cx="813816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502920" y="48920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with random_state=42 — splits are reproducible from CSV manifests.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LeafLens · USCO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457200" y="320040"/>
            <a:ext cx="292608" cy="384048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521208" y="374904"/>
            <a:ext cx="164592" cy="256032"/>
          </a:xfrm>
          <a:prstGeom prst="ellipse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108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transfer-learning baselines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Architectures compared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48640" cy="36576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830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83080"/>
            <a:ext cx="2697480" cy="7315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EfficientNet-B0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M</a:t>
            </a:r>
            <a:pPr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parameters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 — fastest inference, smallest footprint.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783080"/>
            <a:ext cx="2697480" cy="7315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ResNet-50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 M</a:t>
            </a:r>
            <a:pPr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parameters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classical baseline — 80.9% on ImageNet (V2 weights).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7830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783080"/>
            <a:ext cx="2697480" cy="7315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ViT-Base/16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 M</a:t>
            </a:r>
            <a:pPr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parameters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transformer reference — sanity check on small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794760"/>
            <a:ext cx="8183880" cy="105156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C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recipe (identical across all three)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1605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class-weighted cross-entropy.   3-epoch frozen-backbone warm-up, then differential learning rates (1e-4 backbone / 1e-3 head).   Early stopping on val accuracy (patience 5).   Image size 224 × 224.   Batch 32 for CNN / 16 for ViT.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LeafLens · USCO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457200" y="320040"/>
            <a:ext cx="292608" cy="384048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521208" y="374904"/>
            <a:ext cx="164592" cy="256032"/>
          </a:xfrm>
          <a:prstGeom prst="ellipse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108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set, 2,217 images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48640" cy="36576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818388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143000"/>
                <a:gridCol w="1143000"/>
                <a:gridCol w="1051560"/>
                <a:gridCol w="13258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top-1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top-3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39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39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39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39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39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39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76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  ★ Selected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76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76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76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76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76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ViT-Base/16  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3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3657600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ViT-Base training was halted at epoch 3 — its trajectory was clearly below both CNN baselines and would not have overtaken them within the patience budget. Continuing would have cost ~2 GPU-hours for no expected ranking change.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4297680"/>
            <a:ext cx="8183880" cy="54864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29768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targets met:   ≥ 85% top-1   ·   ≥ 95% top-3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LeafLens · USCO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457200" y="320040"/>
            <a:ext cx="292608" cy="384048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521208" y="374904"/>
            <a:ext cx="164592" cy="256032"/>
          </a:xfrm>
          <a:prstGeom prst="ellipse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108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model still fails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48640" cy="36576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830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Snake Plant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A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496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Cast Iron Plant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2862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strap-shaped leaves, similar habit.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Pothos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A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496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Heart-leaf Philodendron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2862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family, same trailing-vine habit.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7830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Begonia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A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496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Iron Cross Begonia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63640" y="2862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Subspecies — hard even for botanists.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520440"/>
            <a:ext cx="8183880" cy="1280160"/>
          </a:xfrm>
          <a:prstGeom prst="rect">
            <a:avLst/>
          </a:prstGeom>
          <a:solidFill>
            <a:srgbClr val="EBF2E7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shipped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UI always shows the top-3 alternatives — the user picks if the model is close.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3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Below 40% top-1 confidence, the result card is replaced by an explicit “try a better photo” banner.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3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Augmentation (rotation, flip, color jitter) makes the model robust to common phone-photo variations.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LeafLens · USCO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457200" y="320040"/>
            <a:ext cx="292608" cy="384048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521208" y="374904"/>
            <a:ext cx="164592" cy="256032"/>
          </a:xfrm>
          <a:prstGeom prst="ellipse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108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tiers, single-region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48640" cy="36576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28800"/>
            <a:ext cx="8183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28800"/>
            <a:ext cx="109728" cy="77724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47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267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 CSS · upload, catalog, about pages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011680"/>
            <a:ext cx="1828800" cy="41148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633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HTTPS multipart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880360"/>
            <a:ext cx="8183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80360"/>
            <a:ext cx="109728" cy="777240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99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319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3.1 + gunicorn · validates, preprocesses, runs inference, enriches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3063240"/>
            <a:ext cx="1828800" cy="411480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SQLAlchemy ORM  +  PyTorch in-process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931920"/>
            <a:ext cx="109728" cy="777240"/>
          </a:xfrm>
          <a:prstGeom prst="rect">
            <a:avLst/>
          </a:prstGeom>
          <a:solidFill>
            <a:srgbClr val="A9C39E"/>
          </a:solidFill>
          <a:ln w="12700">
            <a:solidFill>
              <a:srgbClr val="A9C3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370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species · 47 care profiles · 94 toxicity records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931920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931920"/>
            <a:ext cx="109728" cy="777240"/>
          </a:xfrm>
          <a:prstGeom prst="rect">
            <a:avLst/>
          </a:prstGeom>
          <a:solidFill>
            <a:srgbClr val="A9C39E"/>
          </a:solidFill>
          <a:ln w="12700">
            <a:solidFill>
              <a:srgbClr val="A9C3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 model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83480" y="4370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· loaded at boot · CPU or MPS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LeafLens · USCO ·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457200" y="320040"/>
            <a:ext cx="292608" cy="384048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521208" y="374904"/>
            <a:ext cx="164592" cy="256032"/>
          </a:xfrm>
          <a:prstGeom prst="ellipse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108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under the hood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practices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48640" cy="36576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83080"/>
            <a:ext cx="8183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83080"/>
            <a:ext cx="73152" cy="50292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56232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1856232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sections in English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856232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Intro, problem, SoTA, requirements, use cases, ER model, class diagrams, mockups, API catalog, testing, architecture, results, future work, presentation, deployment.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59152"/>
            <a:ext cx="8183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59152"/>
            <a:ext cx="73152" cy="50292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432304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2432304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pytest + pytest-flask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2432304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preprocessing and splits, integration tests for every API endpoint, in-memory SQLite + stub classifier.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935224"/>
            <a:ext cx="8183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935224"/>
            <a:ext cx="73152" cy="50292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008376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71800" y="3008376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3008376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lint, pytest with coverage, npm build — runs on every push.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511296"/>
            <a:ext cx="8183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511296"/>
            <a:ext cx="73152" cy="50292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584448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71800" y="3584448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= 42, CSV manifests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3584448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partition every time — manifests live next to the code.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087368"/>
            <a:ext cx="8183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087368"/>
            <a:ext cx="73152" cy="502920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160520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71800" y="4160520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+ Render + Vercel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160520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only. render.yaml + Dockerfile are checked in; deploys are one click.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LeafLens · USCO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457200" y="320040"/>
            <a:ext cx="292608" cy="384048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521208" y="374904"/>
            <a:ext cx="164592" cy="256032"/>
          </a:xfrm>
          <a:prstGeom prst="ellipse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108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6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48640" cy="36576"/>
          </a:xfrm>
          <a:prstGeom prst="rect">
            <a:avLst/>
          </a:prstGeom>
          <a:solidFill>
            <a:srgbClr val="7EA16F"/>
          </a:solidFill>
          <a:ln w="12700">
            <a:solidFill>
              <a:srgbClr val="7EA1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8308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Bigger catalog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31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100+ species by combining the Kaggle base with a curated PlantNet-300K subset.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2011680"/>
            <a:ext cx="411480" cy="411480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inference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2331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best checkpoint to CoreML so prediction runs in a mobile browser — no upload, no server cost, full privacy.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10896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310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 overlay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classifier trained on PlantVillage flags pests and diseases on top of species identification.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10896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A9C3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337560"/>
            <a:ext cx="411480" cy="411480"/>
          </a:xfrm>
          <a:prstGeom prst="ellipse">
            <a:avLst/>
          </a:prstGeom>
          <a:solidFill>
            <a:srgbClr val="476A3E"/>
          </a:solidFill>
          <a:ln w="12700">
            <a:solidFill>
              <a:srgbClr val="476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3310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timeline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a static care card to a live schedule with push reminders for watering, fertilizing, and re-potting.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LeafLens · USCO ·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76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500000">
            <a:off x="-457200" y="2857500"/>
            <a:ext cx="1371600" cy="2011680"/>
          </a:xfrm>
          <a:prstGeom prst="ellipse">
            <a:avLst/>
          </a:prstGeom>
          <a:solidFill>
            <a:srgbClr val="7EA16F">
              <a:alpha val="30000"/>
            </a:srgbClr>
          </a:solidFill>
          <a:ln w="12700">
            <a:solidFill>
              <a:srgbClr val="7EA16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500000">
            <a:off x="-228600" y="3040380"/>
            <a:ext cx="1371600" cy="2011680"/>
          </a:xfrm>
          <a:prstGeom prst="ellipse">
            <a:avLst/>
          </a:prstGeom>
          <a:solidFill>
            <a:srgbClr val="7EA16F">
              <a:alpha val="25000"/>
            </a:srgbClr>
          </a:solidFill>
          <a:ln w="12700">
            <a:solidFill>
              <a:srgbClr val="7EA16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500000">
            <a:off x="0" y="3223260"/>
            <a:ext cx="1371600" cy="2011680"/>
          </a:xfrm>
          <a:prstGeom prst="ellipse">
            <a:avLst/>
          </a:prstGeom>
          <a:solidFill>
            <a:srgbClr val="7EA16F">
              <a:alpha val="20000"/>
            </a:srgbClr>
          </a:solidFill>
          <a:ln w="12700">
            <a:solidFill>
              <a:srgbClr val="7EA16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500000">
            <a:off x="228600" y="3406140"/>
            <a:ext cx="1371600" cy="2011680"/>
          </a:xfrm>
          <a:prstGeom prst="ellipse">
            <a:avLst/>
          </a:prstGeom>
          <a:solidFill>
            <a:srgbClr val="7EA16F">
              <a:alpha val="15000"/>
            </a:srgbClr>
          </a:solidFill>
          <a:ln w="12700">
            <a:solidFill>
              <a:srgbClr val="7EA16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31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A9C3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8046720" cy="45720"/>
          </a:xfrm>
          <a:prstGeom prst="rect">
            <a:avLst/>
          </a:prstGeom>
          <a:solidFill>
            <a:srgbClr val="A9C39E"/>
          </a:solidFill>
          <a:ln w="12700">
            <a:solidFill>
              <a:srgbClr val="A9C3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github.com/luigy23/leaflens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3383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(deployed URL after Render)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Luigy Leonardo  ·  Artificial Intelligence (BEINSOF52)  ·  Universidad Surcolombiana  · 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Surcolombiana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LeafLens — Final Project</dc:title>
  <dc:subject>PptxGenJS Presentation</dc:subject>
  <dc:creator>Luigy Leonardo</dc:creator>
  <cp:lastModifiedBy>Luigy Leonardo</cp:lastModifiedBy>
  <cp:revision>1</cp:revision>
  <dcterms:created xsi:type="dcterms:W3CDTF">2026-05-19T19:08:27Z</dcterms:created>
  <dcterms:modified xsi:type="dcterms:W3CDTF">2026-05-19T19:08:27Z</dcterms:modified>
</cp:coreProperties>
</file>